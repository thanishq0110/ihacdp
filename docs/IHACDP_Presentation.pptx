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38912"/>
            <a:ext cx="2162829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76072"/>
            <a:ext cx="1888510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572768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6600" b="1" i="0">
                <a:solidFill>
                  <a:srgbClr val="FFFFFF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61488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000" b="0" i="0">
                <a:solidFill>
                  <a:srgbClr val="8FC6C6"/>
                </a:solidFill>
                <a:latin typeface="Helvetica Neue"/>
              </a:defRPr>
            </a:pPr>
            <a:r>
              <a:t>Intelligent Healthcare Analytics and Clinical Decision Support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346704"/>
            <a:ext cx="1463040" cy="41148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84448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defRPr sz="1600" b="0" i="0">
                <a:solidFill>
                  <a:srgbClr val="B9D2D2"/>
                </a:solidFill>
                <a:latin typeface="Helvetica Neue"/>
              </a:defRPr>
            </a:pPr>
            <a:r>
              <a:t>Offline clinical decision support with statistical risk models</a:t>
            </a:r>
          </a:p>
          <a:p>
            <a:pPr algn="l">
              <a:lnSpc>
                <a:spcPct val="125000"/>
              </a:lnSpc>
              <a:defRPr sz="1600" b="0" i="0">
                <a:solidFill>
                  <a:srgbClr val="B9D2D2"/>
                </a:solidFill>
                <a:latin typeface="Helvetica Neue"/>
              </a:defRPr>
            </a:pPr>
            <a:r>
              <a:t>and a local language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817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6B848E"/>
                </a:solidFill>
                <a:latin typeface="Helvetica Neue"/>
              </a:defRPr>
            </a:pPr>
            <a:r>
              <a:t>B.Tech, School of Computer Science and Engineering, VIT Chennai      ·      Capstone Project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358444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14A0A0"/>
                </a:solidFill>
                <a:latin typeface="Helvetica Neue"/>
              </a:defRPr>
            </a:pPr>
            <a:r>
              <a:t>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3840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Dr. Vivekanandan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4133087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6B848E"/>
                </a:solidFill>
                <a:latin typeface="Helvetica Neue"/>
              </a:defRPr>
            </a:pPr>
            <a:r>
              <a:t>(53646)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285232"/>
            <a:ext cx="3515258" cy="822960"/>
          </a:xfrm>
          <a:prstGeom prst="roundRect">
            <a:avLst>
              <a:gd name="adj" fmla="val 8000"/>
            </a:avLst>
          </a:prstGeom>
          <a:solidFill>
            <a:srgbClr val="122731"/>
          </a:solidFill>
          <a:ln w="12700">
            <a:solidFill>
              <a:srgbClr val="1F3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285232"/>
            <a:ext cx="45720" cy="82296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449824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Shiva Charan Ambati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742432"/>
            <a:ext cx="30580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14A0A0"/>
                </a:solidFill>
                <a:latin typeface="Helvetica Neue"/>
              </a:defRPr>
            </a:pPr>
            <a:r>
              <a:t>23BRS1203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8218" y="5285232"/>
            <a:ext cx="3515258" cy="822960"/>
          </a:xfrm>
          <a:prstGeom prst="roundRect">
            <a:avLst>
              <a:gd name="adj" fmla="val 8000"/>
            </a:avLst>
          </a:prstGeom>
          <a:solidFill>
            <a:srgbClr val="122731"/>
          </a:solidFill>
          <a:ln w="12700">
            <a:solidFill>
              <a:srgbClr val="1F3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8218" y="5285232"/>
            <a:ext cx="45720" cy="82296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962" y="5449824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Atla Abhinav Karthik Reddy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5962" y="5742432"/>
            <a:ext cx="30580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14A0A0"/>
                </a:solidFill>
                <a:latin typeface="Helvetica Neue"/>
              </a:defRPr>
            </a:pPr>
            <a:r>
              <a:t>23BCE1085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9508" y="5285232"/>
            <a:ext cx="3515258" cy="822960"/>
          </a:xfrm>
          <a:prstGeom prst="roundRect">
            <a:avLst>
              <a:gd name="adj" fmla="val 8000"/>
            </a:avLst>
          </a:prstGeom>
          <a:solidFill>
            <a:srgbClr val="122731"/>
          </a:solidFill>
          <a:ln w="12700">
            <a:solidFill>
              <a:srgbClr val="1F3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9508" y="5285232"/>
            <a:ext cx="45720" cy="82296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7252" y="5449824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Kotha Rithvik Reddy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7252" y="5742432"/>
            <a:ext cx="30580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14A0A0"/>
                </a:solidFill>
                <a:latin typeface="Helvetica Neue"/>
              </a:defRPr>
            </a:pPr>
            <a:r>
              <a:t>23BCE1582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WHAT WE WILL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84248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84248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86584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84248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Problem, motivation, and the Indian primary-care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5575" y="1984248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5575" y="1984248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2386584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1984248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Literature review: symptom checkers, ML risk prediction, explainability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19272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319272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21608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19272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Research gap, objectives, and system architecture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5575" y="3319272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5575" y="3319272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3721608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319272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Datasets, methodology, and the observed/imputed wall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54296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654296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56632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54296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Risk model selection, language model benchmark, SHAP explainability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5575" y="4654296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5575" y="4654296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1607" y="5056632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247" y="4654296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Results, limitations, future scope,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CONTEXT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Problem Definition and Domain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5419191" cy="827531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45720" cy="827531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907127" cy="8275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3505C"/>
                </a:solidFill>
                <a:latin typeface="Helvetica Neue"/>
              </a:defRPr>
            </a:pPr>
            <a:r>
              <a:t>Patients describe symptoms in plain English, not clinical vocabulary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1481328"/>
            <a:ext cx="5419191" cy="827531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5575" y="1481328"/>
            <a:ext cx="45720" cy="827531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481328"/>
            <a:ext cx="4907127" cy="8275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3505C"/>
                </a:solidFill>
                <a:latin typeface="Helvetica Neue"/>
              </a:defRPr>
            </a:pPr>
            <a:r>
              <a:t>Clinical decision support must map free text to structured risk assessment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28316"/>
            <a:ext cx="5419191" cy="827531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528316"/>
            <a:ext cx="45720" cy="827531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528316"/>
            <a:ext cx="4907127" cy="8275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3505C"/>
                </a:solidFill>
                <a:latin typeface="Helvetica Neue"/>
              </a:defRPr>
            </a:pPr>
            <a:r>
              <a:t>Language models are fluent but unreliable as diagnostic engines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2528316"/>
            <a:ext cx="5419191" cy="827531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2528316"/>
            <a:ext cx="45720" cy="827531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2528316"/>
            <a:ext cx="4907127" cy="8275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3505C"/>
                </a:solidFill>
                <a:latin typeface="Helvetica Neue"/>
              </a:defRPr>
            </a:pPr>
            <a:r>
              <a:t>Statistical models are reliable but opaque to a layperson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94176"/>
            <a:ext cx="11057839" cy="786384"/>
          </a:xfrm>
          <a:prstGeom prst="roundRect">
            <a:avLst>
              <a:gd name="adj" fmla="val 5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82219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DDEAEA"/>
                </a:solidFill>
                <a:latin typeface="Helvetica Neue"/>
              </a:defRPr>
            </a:pPr>
            <a:r>
              <a:t>CORE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078224"/>
            <a:ext cx="10472623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Helvetica Neue"/>
              </a:defRPr>
            </a:pPr>
            <a:r>
              <a:t>combine both without letting the generator decide outcomes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00016"/>
            <a:ext cx="11057839" cy="786384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82803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DDEAEA"/>
                </a:solidFill>
                <a:latin typeface="Helvetica Neue"/>
              </a:defRPr>
            </a:pPr>
            <a:r>
              <a:t>CONSTRAINT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084064"/>
            <a:ext cx="10472623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Helvetica Neue"/>
              </a:defRPr>
            </a:pPr>
            <a:r>
              <a:t>must run offline, with no patient data leaving the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CONTEXT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Motivation: the Indian Primary-Care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12392"/>
            <a:ext cx="3539642" cy="94792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12392"/>
            <a:ext cx="45720" cy="94792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12392"/>
            <a:ext cx="3027578" cy="947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3505C"/>
                </a:solidFill>
                <a:latin typeface="Helvetica Neue"/>
              </a:defRPr>
            </a:pPr>
            <a:r>
              <a:t>Primary care is the first and often only point of contact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6026" y="1612392"/>
            <a:ext cx="3539642" cy="94792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6026" y="1612392"/>
            <a:ext cx="45720" cy="94792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1612392"/>
            <a:ext cx="3027578" cy="947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3505C"/>
                </a:solidFill>
                <a:latin typeface="Helvetica Neue"/>
              </a:defRPr>
            </a:pPr>
            <a:r>
              <a:t>Consultation time is short; symptom histories are taken rapidly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5124" y="1612392"/>
            <a:ext cx="3539642" cy="94792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5124" y="1612392"/>
            <a:ext cx="45720" cy="94792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1156" y="1612392"/>
            <a:ext cx="3027578" cy="947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3505C"/>
                </a:solidFill>
                <a:latin typeface="Helvetica Neue"/>
              </a:defRPr>
            </a:pPr>
            <a:r>
              <a:t>Connectivity and cloud access are unreliable outside urban centres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46477" y="2779776"/>
            <a:ext cx="3539642" cy="94792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46477" y="2779776"/>
            <a:ext cx="45720" cy="94792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2509" y="2779776"/>
            <a:ext cx="3027578" cy="947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3505C"/>
                </a:solidFill>
                <a:latin typeface="Helvetica Neue"/>
              </a:defRPr>
            </a:pPr>
            <a:r>
              <a:t>Sending health data to remote APIs raises privacy and cost concerns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5575" y="2779776"/>
            <a:ext cx="3539642" cy="94792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5575" y="2779776"/>
            <a:ext cx="45720" cy="94792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2779776"/>
            <a:ext cx="3027578" cy="947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3505C"/>
                </a:solidFill>
                <a:latin typeface="Helvetica Neue"/>
              </a:defRPr>
            </a:pPr>
            <a:r>
              <a:t>Self-medication from an OTC counter is common and unguided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151376"/>
            <a:ext cx="11057839" cy="822960"/>
          </a:xfrm>
          <a:prstGeom prst="roundRect">
            <a:avLst>
              <a:gd name="adj" fmla="val 5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151376"/>
            <a:ext cx="10472623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FFFFFF"/>
                </a:solidFill>
                <a:latin typeface="Helvetica Neue"/>
              </a:defRPr>
            </a:pPr>
            <a:r>
              <a:t>An offline, on-device assistant fits this setting directly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LITERATURE REVIEW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Symptom Checkers and Their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5582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912864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Public symptom checkers rank conditions from a checklist of symptoms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2356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522220"/>
            <a:ext cx="6912864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Coverage is skewed to conditions that public datasets happen to carry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130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489960"/>
            <a:ext cx="6912864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Injuries and musculoskeletal complaints are poorly represented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5590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457700"/>
            <a:ext cx="6912864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Probabilistic fits misread silence: unmentioned symptoms treated as absent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52678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425440"/>
            <a:ext cx="6912864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Outputs rarely separate what the patient said from what was assumed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1481328"/>
            <a:ext cx="3376879" cy="4718304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865376"/>
            <a:ext cx="3376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THE FAILURE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14016"/>
            <a:ext cx="33768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6600" b="1" i="0">
                <a:solidFill>
                  <a:srgbClr val="9A5B1E"/>
                </a:solidFill>
                <a:latin typeface="Helvetica Neue"/>
              </a:defRPr>
            </a:pPr>
            <a:r>
              <a:t>46%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858768"/>
            <a:ext cx="28648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defRPr sz="1500" b="1" i="0">
                <a:solidFill>
                  <a:srgbClr val="0F2A33"/>
                </a:solidFill>
                <a:latin typeface="Helvetica Neue"/>
              </a:defRPr>
            </a:pPr>
            <a:r>
              <a:t>confidence that a head cold</a:t>
            </a:r>
          </a:p>
          <a:p>
            <a:pPr algn="ctr">
              <a:lnSpc>
                <a:spcPct val="125000"/>
              </a:lnSpc>
              <a:defRPr sz="1500" b="1" i="0">
                <a:solidFill>
                  <a:srgbClr val="0F2A33"/>
                </a:solidFill>
                <a:latin typeface="Helvetica Neue"/>
              </a:defRPr>
            </a:pPr>
            <a:r>
              <a:t>was AIDS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05088" y="4828032"/>
            <a:ext cx="2462479" cy="18288"/>
          </a:xfrm>
          <a:prstGeom prst="rect">
            <a:avLst/>
          </a:prstGeom>
          <a:solidFill>
            <a:srgbClr val="D5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5065776"/>
            <a:ext cx="28648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defRPr sz="1450" b="0" i="0">
                <a:solidFill>
                  <a:srgbClr val="33505C"/>
                </a:solidFill>
                <a:latin typeface="Helvetica Neue"/>
              </a:defRPr>
            </a:pPr>
            <a:r>
              <a:t>Naive Bayes on our own data, before</a:t>
            </a:r>
          </a:p>
          <a:p>
            <a:pPr algn="ctr">
              <a:lnSpc>
                <a:spcPct val="130000"/>
              </a:lnSpc>
              <a:defRPr sz="1450" b="0" i="0">
                <a:solidFill>
                  <a:srgbClr val="33505C"/>
                </a:solidFill>
                <a:latin typeface="Helvetica Neue"/>
              </a:defRPr>
            </a:pPr>
            <a:r>
              <a:t>IDF-weighted overlap replaced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LITERATURE REVIEW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ML Risk Prediction and Explainability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1244"/>
            <a:ext cx="5419191" cy="1149096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1244"/>
            <a:ext cx="45720" cy="1149096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71244"/>
            <a:ext cx="4907127" cy="1149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Supervised models on UCI clinical datasets are a well-established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1571244"/>
            <a:ext cx="5419191" cy="1149096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5575" y="1571244"/>
            <a:ext cx="45720" cy="1149096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571244"/>
            <a:ext cx="4907127" cy="1149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LogisticRegression, RandomForest and XGBoost dominate tabular clinical risk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39796"/>
            <a:ext cx="5419191" cy="1149096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939796"/>
            <a:ext cx="45720" cy="1149096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39796"/>
            <a:ext cx="4907127" cy="1149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ROC-AUC under cross-validation is the standard selection criterion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2939796"/>
            <a:ext cx="5419191" cy="1149096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2939796"/>
            <a:ext cx="45720" cy="1149096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2939796"/>
            <a:ext cx="4907127" cy="1149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SHAP attributes a prediction to individual feature contributions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25696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 i="1">
                <a:solidFill>
                  <a:srgbClr val="6B848E"/>
                </a:solidFill>
                <a:latin typeface="Helvetica Neue"/>
              </a:defRPr>
            </a:pPr>
            <a:r>
              <a:t>Explainability literature rarely addresses who the explanation is written for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10912"/>
            <a:ext cx="11057839" cy="932688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1389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DDEAEA"/>
                </a:solidFill>
                <a:latin typeface="Helvetica Neue"/>
              </a:defRPr>
            </a:pPr>
            <a:r>
              <a:t>THE GAP THIS PROJECT SITS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394960"/>
            <a:ext cx="1047262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Helvetica Neue"/>
              </a:defRPr>
            </a:pPr>
            <a:r>
              <a:t>Gap between a SHAP plot and a sentence a patient understands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WHERE THE FIELD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Research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783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50292" cy="694944"/>
          </a:xfrm>
          <a:prstGeom prst="rect">
            <a:avLst/>
          </a:prstGeom>
          <a:solidFill>
            <a:srgbClr val="9A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70992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9A5B1E"/>
                </a:solidFill>
                <a:latin typeface="Helvetica Neue"/>
              </a:defRPr>
            </a:pPr>
            <a:r>
              <a:t>GAP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7943" y="1481328"/>
            <a:ext cx="9512503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Symptom checkers rank conditions but do not quantify chronic disease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276856"/>
            <a:ext cx="1105783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276856"/>
            <a:ext cx="50292" cy="694944"/>
          </a:xfrm>
          <a:prstGeom prst="rect">
            <a:avLst/>
          </a:prstGeom>
          <a:solidFill>
            <a:srgbClr val="9A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505456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9A5B1E"/>
                </a:solidFill>
                <a:latin typeface="Helvetica Neue"/>
              </a:defRPr>
            </a:pPr>
            <a:r>
              <a:t>GAP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7943" y="2276856"/>
            <a:ext cx="9512503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Risk models quantify but do not read plain-English complaints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72384"/>
            <a:ext cx="1105783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072384"/>
            <a:ext cx="50292" cy="694944"/>
          </a:xfrm>
          <a:prstGeom prst="rect">
            <a:avLst/>
          </a:prstGeom>
          <a:solidFill>
            <a:srgbClr val="9A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300984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9A5B1E"/>
                </a:solidFill>
                <a:latin typeface="Helvetica Neue"/>
              </a:defRPr>
            </a:pPr>
            <a:r>
              <a:t>GAP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7943" y="3072384"/>
            <a:ext cx="9512503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LLM health assistants generate diagnoses without statistical grounding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67912"/>
            <a:ext cx="1105783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867912"/>
            <a:ext cx="50292" cy="694944"/>
          </a:xfrm>
          <a:prstGeom prst="rect">
            <a:avLst/>
          </a:prstGeom>
          <a:solidFill>
            <a:srgbClr val="9A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096512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9A5B1E"/>
                </a:solidFill>
                <a:latin typeface="Helvetica Neue"/>
              </a:defRPr>
            </a:pPr>
            <a:r>
              <a:t>GAP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7943" y="3867912"/>
            <a:ext cx="9512503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Imputed feature values silently enter explanations as if observed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63440"/>
            <a:ext cx="1105783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663440"/>
            <a:ext cx="50292" cy="694944"/>
          </a:xfrm>
          <a:prstGeom prst="rect">
            <a:avLst/>
          </a:prstGeom>
          <a:solidFill>
            <a:srgbClr val="9A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892040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9A5B1E"/>
                </a:solidFill>
                <a:latin typeface="Helvetica Neue"/>
              </a:defRPr>
            </a:pPr>
            <a:r>
              <a:t>GAP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37943" y="4663440"/>
            <a:ext cx="9512503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No offline system unites triage, risk scoring, SHAP and narration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486400"/>
            <a:ext cx="11057839" cy="713232"/>
          </a:xfrm>
          <a:prstGeom prst="roundRect">
            <a:avLst>
              <a:gd name="adj" fmla="val 5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486400"/>
            <a:ext cx="10472623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FFFFFF"/>
                </a:solidFill>
                <a:latin typeface="Helvetica Neue"/>
              </a:defRPr>
            </a:pPr>
            <a:r>
              <a:t>IHACDP targets exactly that junction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WHAT WE SET OUT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Objectives and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3539642" cy="2249424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45720" cy="224942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81328"/>
            <a:ext cx="2478938" cy="2249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2100" b="0" i="0">
                <a:solidFill>
                  <a:srgbClr val="33505C"/>
                </a:solidFill>
                <a:latin typeface="Helvetica Neue"/>
              </a:defRPr>
            </a:pPr>
            <a:r>
              <a:t>Accept plain-English symptom descriptions and extract entities deterministically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6026" y="1481328"/>
            <a:ext cx="3539642" cy="2249424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6026" y="1481328"/>
            <a:ext cx="45720" cy="224942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2450592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0698" y="1481328"/>
            <a:ext cx="2478938" cy="2249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2100" b="0" i="0">
                <a:solidFill>
                  <a:srgbClr val="33505C"/>
                </a:solidFill>
                <a:latin typeface="Helvetica Neue"/>
              </a:defRPr>
            </a:pPr>
            <a:r>
              <a:t>Triage across 244 conditions using an interpretable ranking, not a fitted classifier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5124" y="1481328"/>
            <a:ext cx="3539642" cy="2249424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5124" y="1481328"/>
            <a:ext cx="45720" cy="224942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450592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9796" y="1481328"/>
            <a:ext cx="2478938" cy="2249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2100" b="0" i="0">
                <a:solidFill>
                  <a:srgbClr val="33505C"/>
                </a:solidFill>
                <a:latin typeface="Helvetica Neue"/>
              </a:defRPr>
            </a:pPr>
            <a:r>
              <a:t>Score five chronic disease risks with cross-validated supervised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950208"/>
            <a:ext cx="3539642" cy="2249424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950208"/>
            <a:ext cx="45720" cy="224942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19472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50208"/>
            <a:ext cx="2478938" cy="2249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2100" b="0" i="0">
                <a:solidFill>
                  <a:srgbClr val="33505C"/>
                </a:solidFill>
                <a:latin typeface="Helvetica Neue"/>
              </a:defRPr>
            </a:pPr>
            <a:r>
              <a:t>Explain every prediction with SHAP over observed features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6026" y="3950208"/>
            <a:ext cx="3539642" cy="2249424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6026" y="3950208"/>
            <a:ext cx="45720" cy="224942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2058" y="4919472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0698" y="3950208"/>
            <a:ext cx="2478938" cy="2249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2100" b="0" i="0">
                <a:solidFill>
                  <a:srgbClr val="33505C"/>
                </a:solidFill>
                <a:latin typeface="Helvetica Neue"/>
              </a:defRPr>
            </a:pPr>
            <a:r>
              <a:t>Narrate results with a local language model that never diagnoses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5124" y="3950208"/>
            <a:ext cx="3539642" cy="2249424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5124" y="3950208"/>
            <a:ext cx="45720" cy="224942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1156" y="4919472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9796" y="3950208"/>
            <a:ext cx="2478938" cy="2249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2100" b="0" i="0">
                <a:solidFill>
                  <a:srgbClr val="33505C"/>
                </a:solidFill>
                <a:latin typeface="Helvetica Neue"/>
              </a:defRPr>
            </a:pPr>
            <a:r>
              <a:t>Run fully offline on commodity hardware; no cloud, no build step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System Architecture: the Request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9</a:t>
            </a:r>
          </a:p>
        </p:txBody>
      </p:sp>
      <p:pic>
        <p:nvPicPr>
          <p:cNvPr id="8" name="Picture 7" descr="fig_architecture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79" y="1435608"/>
            <a:ext cx="9930936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5175504"/>
            <a:ext cx="3539642" cy="102412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175504"/>
            <a:ext cx="3539642" cy="457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285232"/>
            <a:ext cx="3064154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33505C"/>
                </a:solidFill>
                <a:latin typeface="Helvetica Neue"/>
              </a:defRPr>
            </a:pPr>
            <a:r>
              <a:t>Plain-English input enters a FastAPI endpoint; the system is stateless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6026" y="5175504"/>
            <a:ext cx="3539642" cy="102412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6026" y="5175504"/>
            <a:ext cx="3539642" cy="457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3770" y="5285232"/>
            <a:ext cx="3064154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33505C"/>
                </a:solidFill>
                <a:latin typeface="Helvetica Neue"/>
              </a:defRPr>
            </a:pPr>
            <a:r>
              <a:t>Features are tagged observed or imputed; only observed ones cross the wall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5124" y="5175504"/>
            <a:ext cx="3539642" cy="102412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5124" y="5175504"/>
            <a:ext cx="3539642" cy="457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2868" y="5285232"/>
            <a:ext cx="3064154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33505C"/>
                </a:solidFill>
                <a:latin typeface="Helvetica Neue"/>
              </a:defRPr>
            </a:pPr>
            <a:r>
              <a:t>Ollama serves gemma3:4b over loopback to narrate, not decide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Datasets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81328"/>
          <a:ext cx="74066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  <a:gridCol w="1851660"/>
                <a:gridCol w="1851660"/>
                <a:gridCol w="1851660"/>
              </a:tblGrid>
              <a:tr h="492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Source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Dataset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Size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Role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UCI #891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CDC BRFSS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75,346 rows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Type 2 Diabetes risk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UCI #45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Cleveland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303 rows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Coronary Heart Disease risk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UCI #336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CKD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400 rows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Chronic Kidney Disease risk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UCI #225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ILPD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583 rows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Chronic Liver Disease risk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UCI #17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WDBC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569 rows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Breast Cancer risk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Public matrix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Symptom matrix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41 conditions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Triage patterns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SymCat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SymCat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174 conditions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Triage patterns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Curated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Clinical patterns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29 patterns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Injuries, musculoskeletal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93607" y="1481328"/>
            <a:ext cx="3331159" cy="4434840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7" y="1700784"/>
            <a:ext cx="3331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50" b="1" i="0">
                <a:solidFill>
                  <a:srgbClr val="0D6E6E"/>
                </a:solidFill>
                <a:latin typeface="Helvetica Neue"/>
              </a:defRPr>
            </a:pPr>
            <a:r>
              <a:t>244 TRIAGE CONDITIONS</a:t>
            </a:r>
          </a:p>
        </p:txBody>
      </p:sp>
      <p:pic>
        <p:nvPicPr>
          <p:cNvPr id="11" name="Picture 10" descr="fig_triage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4" y="2348930"/>
            <a:ext cx="3075127" cy="24161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76487" y="5157216"/>
            <a:ext cx="29653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41 public  ·  174 SymCat</a:t>
            </a:r>
          </a:p>
          <a:p>
            <a:pPr algn="ctr">
              <a:lnSpc>
                <a:spcPct val="130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29 curated clinical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METHODOLOGY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Deterministic Extraction and the Observed/Imputed Wall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4901184" cy="2761488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55648"/>
            <a:ext cx="43525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WHAT THE RISK MODEL SEES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39696"/>
            <a:ext cx="43525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defRPr sz="1900" b="1" i="0">
                <a:solidFill>
                  <a:srgbClr val="0F2A33"/>
                </a:solidFill>
                <a:latin typeface="Helvetica Neue"/>
              </a:defRPr>
            </a:pPr>
            <a:r>
              <a:t>Observed features</a:t>
            </a:r>
          </a:p>
          <a:p>
            <a:pPr algn="l">
              <a:lnSpc>
                <a:spcPct val="130000"/>
              </a:lnSpc>
              <a:defRPr sz="1900" b="1" i="0">
                <a:solidFill>
                  <a:srgbClr val="0F2A33"/>
                </a:solidFill>
                <a:latin typeface="Helvetica Neue"/>
              </a:defRPr>
            </a:pPr>
            <a:r>
              <a:t>+  imputed placeholders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255264"/>
            <a:ext cx="43525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Imputed values fill the input vector so the model can score a complete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481328"/>
            <a:ext cx="4901184" cy="2761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0D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3525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WHAT THE NARRATOR SEES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139696"/>
            <a:ext cx="43525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defRPr sz="1900" b="1" i="0">
                <a:solidFill>
                  <a:srgbClr val="0F2A33"/>
                </a:solidFill>
                <a:latin typeface="Helvetica Neue"/>
              </a:defRPr>
            </a:pPr>
            <a:r>
              <a:t>Observed features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852928"/>
            <a:ext cx="43525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The language model can only describe evidence the patient actually gave, so a fabricated finding has nothing to be built from.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9592" y="1353312"/>
            <a:ext cx="91440" cy="3017520"/>
          </a:xfrm>
          <a:prstGeom prst="rect">
            <a:avLst/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41264" y="2542032"/>
            <a:ext cx="768096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2542032"/>
            <a:ext cx="76809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defRPr sz="1100" b="1" i="0">
                <a:solidFill>
                  <a:srgbClr val="0F2A33"/>
                </a:solidFill>
                <a:latin typeface="Helvetica Neue"/>
              </a:defRPr>
            </a:pPr>
            <a:r>
              <a:t>THE</a:t>
            </a:r>
          </a:p>
          <a:p>
            <a:pPr algn="ctr">
              <a:lnSpc>
                <a:spcPct val="115000"/>
              </a:lnSpc>
              <a:defRPr sz="1100" b="1" i="0">
                <a:solidFill>
                  <a:srgbClr val="0F2A33"/>
                </a:solidFill>
                <a:latin typeface="Helvetica Neue"/>
              </a:defRPr>
            </a:pPr>
            <a:r>
              <a:t>WALL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35424"/>
            <a:ext cx="3539642" cy="1133856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535424"/>
            <a:ext cx="3539642" cy="457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681728"/>
            <a:ext cx="306415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Regex entity extraction with range validation; no model parses the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6026" y="4535424"/>
            <a:ext cx="3539642" cy="1133856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6026" y="4535424"/>
            <a:ext cx="3539642" cy="457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3770" y="4681728"/>
            <a:ext cx="306415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Prevents fabricated explanations built on statistical placeholders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5124" y="4535424"/>
            <a:ext cx="3539642" cy="1133856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5124" y="4535424"/>
            <a:ext cx="3539642" cy="457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2868" y="4681728"/>
            <a:ext cx="306415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Determinism makes extraction auditable and reproducible across runs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METHODOLOGY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Triage Layer: Why IDF Overlap Beat Naive Bayes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3527450" cy="1280160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11756"/>
            <a:ext cx="3527450" cy="56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3400" b="1" i="0">
                <a:solidFill>
                  <a:srgbClr val="0D6E6E"/>
                </a:solidFill>
                <a:latin typeface="Helvetica Neue"/>
              </a:defRPr>
            </a:pPr>
            <a:r>
              <a:t>244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00630"/>
            <a:ext cx="319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2122" y="1481328"/>
            <a:ext cx="3527450" cy="1280160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2122" y="1711756"/>
            <a:ext cx="3527450" cy="56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3400" b="1" i="0">
                <a:solidFill>
                  <a:srgbClr val="0D6E6E"/>
                </a:solidFill>
                <a:latin typeface="Helvetica Neue"/>
              </a:defRPr>
            </a:pPr>
            <a:r>
              <a:t>389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6714" y="2300630"/>
            <a:ext cx="319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symptoms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1481328"/>
            <a:ext cx="3527450" cy="1280160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7316" y="1711756"/>
            <a:ext cx="3527450" cy="56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3400" b="1" i="0">
                <a:solidFill>
                  <a:srgbClr val="0D6E6E"/>
                </a:solidFill>
                <a:latin typeface="Helvetica Neue"/>
              </a:defRPr>
            </a:pPr>
            <a:r>
              <a:t>516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1908" y="2300630"/>
            <a:ext cx="319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unique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999232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291840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MERGED FROM THREE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803904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14A0A0"/>
                </a:solidFill>
                <a:latin typeface="Helvetica Neue"/>
              </a:defRPr>
            </a:pPr>
            <a:r>
              <a:t>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3858768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 i="0">
                <a:solidFill>
                  <a:srgbClr val="33505C"/>
                </a:solidFill>
                <a:latin typeface="Helvetica Neue"/>
              </a:defRPr>
            </a:pPr>
            <a:r>
              <a:t>public symptom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37083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14A0A0"/>
                </a:solidFill>
                <a:latin typeface="Helvetica Neue"/>
              </a:defRPr>
            </a:pPr>
            <a:r>
              <a:t>174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9928" y="4425696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 i="0">
                <a:solidFill>
                  <a:srgbClr val="33505C"/>
                </a:solidFill>
                <a:latin typeface="Helvetica Neue"/>
              </a:defRPr>
            </a:pPr>
            <a:r>
              <a:t>SymCat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93776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14A0A0"/>
                </a:solidFill>
                <a:latin typeface="Helvetica Neue"/>
              </a:defRPr>
            </a:pPr>
            <a:r>
              <a:t>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4992624"/>
            <a:ext cx="4069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 i="0">
                <a:solidFill>
                  <a:srgbClr val="33505C"/>
                </a:solidFill>
                <a:latin typeface="Helvetica Neue"/>
              </a:defRPr>
            </a:pPr>
            <a:r>
              <a:t>curated clinical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614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defRPr sz="1350" b="0" i="0">
                <a:solidFill>
                  <a:srgbClr val="6B848E"/>
                </a:solidFill>
                <a:latin typeface="Helvetica Neue"/>
              </a:defRPr>
            </a:pPr>
            <a:r>
              <a:t>Curated patterns cover injuries and musculoskeletal complaints that no public dataset carries.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5936" y="2999232"/>
            <a:ext cx="5278831" cy="3200400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0256" y="3291840"/>
            <a:ext cx="47301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9A5B1E"/>
                </a:solidFill>
                <a:latin typeface="Helvetica Neue"/>
              </a:defRPr>
            </a:pPr>
            <a:r>
              <a:t>WHY NOT NAIVE BAYES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0256" y="3749040"/>
            <a:ext cx="47301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defRPr sz="1800" b="1" i="0">
                <a:solidFill>
                  <a:srgbClr val="0F2A33"/>
                </a:solidFill>
                <a:latin typeface="Helvetica Neue"/>
              </a:defRPr>
            </a:pPr>
            <a:r>
              <a:t>Naive Bayes treats an unmentioned symptom as confirmed absent.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0256" y="4736592"/>
            <a:ext cx="473019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defRPr sz="1500" b="0" i="0">
                <a:solidFill>
                  <a:srgbClr val="33505C"/>
                </a:solidFill>
                <a:latin typeface="Helvetica Neue"/>
              </a:defRPr>
            </a:pPr>
            <a:r>
              <a:t>That fit once ranked a head cold as AIDS at 46%. IDF-weighted overlap treats silence as unknown and weights rare symptoms higher.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RESULTS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Risk Model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81328"/>
          <a:ext cx="5989319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74519"/>
                <a:gridCol w="1143000"/>
                <a:gridCol w="1143000"/>
              </a:tblGrid>
              <a:tr h="42062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Condition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Winning model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ROC-AUC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Accuracy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Type 2 Diabetes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XGBoost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0.8268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0.7490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Coronary Heart Disease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LogisticRegression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0.9502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0.8689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Chronic Kidney Disease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LogisticRegression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1.0000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0.9750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Chronic Liver Disease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RandomForest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0.7821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0.7009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Breast Cancer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LogisticRegression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0.9954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0.9737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ig_algorithm_con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1426836"/>
            <a:ext cx="4748479" cy="276074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4498848"/>
            <a:ext cx="11057839" cy="800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498848"/>
            <a:ext cx="50292" cy="8001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498848"/>
            <a:ext cx="10472623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Selection by 5-fold cross-validated ROC-AUC across three candidate families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99532"/>
            <a:ext cx="11057839" cy="800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399532"/>
            <a:ext cx="50292" cy="8001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5399532"/>
            <a:ext cx="10472623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Reported figures come from a held-out 20% test split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RESULTS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Language Model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81328"/>
          <a:ext cx="598932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864"/>
                <a:gridCol w="1197864"/>
                <a:gridCol w="1197864"/>
                <a:gridCol w="1197864"/>
                <a:gridCol w="1197864"/>
              </a:tblGrid>
              <a:tr h="4206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Model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Score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Reasoning leak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Dose violations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Latency</a:t>
                      </a:r>
                    </a:p>
                  </a:txBody>
                  <a:tcPr marL="91440" marR="91440" marT="18288" marB="18288" anchor="ctr">
                    <a:solidFill>
                      <a:srgbClr val="0D6E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gemma3:4b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100/100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0%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0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4.17s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llama3.2:3b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90.0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2.07s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qwen3:4b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42.5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75%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505C"/>
                          </a:solidFill>
                          <a:latin typeface="Helvetica Neue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18288" marB="18288" anchor="ctr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ig_llm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1779892"/>
            <a:ext cx="4748479" cy="20546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3493008"/>
            <a:ext cx="5989320" cy="731520"/>
          </a:xfrm>
          <a:prstGeom prst="roundRect">
            <a:avLst>
              <a:gd name="adj" fmla="val 5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93008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Helvetica Neue"/>
              </a:defRPr>
            </a:pPr>
            <a:r>
              <a:t>gemma3:4b selected   ·   100 / 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498848"/>
            <a:ext cx="11057839" cy="800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498848"/>
            <a:ext cx="50292" cy="800100"/>
          </a:xfrm>
          <a:prstGeom prst="rect">
            <a:avLst/>
          </a:prstGeom>
          <a:solidFill>
            <a:srgbClr val="9A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498848"/>
            <a:ext cx="10472623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qwen3:4b emitted chain-of-thought as patient-visible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399532"/>
            <a:ext cx="11057839" cy="800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399532"/>
            <a:ext cx="50292" cy="800100"/>
          </a:xfrm>
          <a:prstGeom prst="rect">
            <a:avLst/>
          </a:prstGeom>
          <a:solidFill>
            <a:srgbClr val="9A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399532"/>
            <a:ext cx="10472623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Neither think:false nor /no_think suppressed that leak; gemma3:4b selected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HOW A PREDICTION IS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Explainability with SHAP: a Worked CKD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5582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5129784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CKD model is LogisticRegression, AUC 1.0000, accuracy 0.9750 on held-out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4068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39340"/>
            <a:ext cx="5129784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SHAP attributes the risk score to individual input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255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124200"/>
            <a:ext cx="5129784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Only features tagged observed are eligible to appear in the explanation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1040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909060"/>
            <a:ext cx="5129784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Imputed values contribute to the score but are withheld from narration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9526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693920"/>
            <a:ext cx="5129784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gemma3:4b converts the surviving attributions into plain-language reasoning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468112"/>
            <a:ext cx="11057839" cy="731520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468112"/>
            <a:ext cx="10472623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FFFFFF"/>
                </a:solidFill>
                <a:latin typeface="Helvetica Neue"/>
              </a:defRPr>
            </a:pPr>
            <a:r>
              <a:t>The number comes from the model; the sentence comes from the narrator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1715311"/>
            <a:ext cx="5251399" cy="3143912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ig_shap_ck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861615"/>
            <a:ext cx="4958791" cy="28513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SAFETY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Deterministic Prescribing and Urgent-Care Escalation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7839" cy="658368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45720" cy="6583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481328"/>
            <a:ext cx="1047262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0F2A33"/>
                </a:solidFill>
                <a:latin typeface="Helvetica Neue"/>
              </a:defRPr>
            </a:pPr>
            <a:r>
              <a:t>Prescribing is deterministic from a curated Indian OTC formulary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774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CURATED INDIAN OTC FORMULARY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88336"/>
            <a:ext cx="1123087" cy="51206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88336"/>
            <a:ext cx="112308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F2A33"/>
                </a:solidFill>
                <a:latin typeface="Helvetica Neue"/>
              </a:defRPr>
            </a:pPr>
            <a:r>
              <a:t>Dolo 650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5463" y="2688336"/>
            <a:ext cx="1318777" cy="51206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45463" y="2688336"/>
            <a:ext cx="131877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F2A33"/>
                </a:solidFill>
                <a:latin typeface="Helvetica Neue"/>
              </a:defRPr>
            </a:pPr>
            <a:r>
              <a:t>Brufen 400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688" y="2688336"/>
            <a:ext cx="1123087" cy="51206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688" y="2688336"/>
            <a:ext cx="112308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F2A33"/>
                </a:solidFill>
                <a:latin typeface="Helvetica Neue"/>
              </a:defRPr>
            </a:pPr>
            <a:r>
              <a:t>Sinarest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8224" y="2688336"/>
            <a:ext cx="1220932" cy="51206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8224" y="2688336"/>
            <a:ext cx="12209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F2A33"/>
                </a:solidFill>
                <a:latin typeface="Helvetica Neue"/>
              </a:defRPr>
            </a:pPr>
            <a:r>
              <a:t>Strepsils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74605" y="2688336"/>
            <a:ext cx="1025242" cy="51206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4605" y="2688336"/>
            <a:ext cx="102524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F2A33"/>
                </a:solidFill>
                <a:latin typeface="Helvetica Neue"/>
              </a:defRPr>
            </a:pPr>
            <a:r>
              <a:t>Cetzine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5296" y="2688336"/>
            <a:ext cx="927398" cy="51206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5296" y="2688336"/>
            <a:ext cx="92739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F2A33"/>
                </a:solidFill>
                <a:latin typeface="Helvetica Neue"/>
              </a:defRPr>
            </a:pPr>
            <a:r>
              <a:t>Digene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38142" y="2688336"/>
            <a:ext cx="1123087" cy="51206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142" y="2688336"/>
            <a:ext cx="112308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F2A33"/>
                </a:solidFill>
                <a:latin typeface="Helvetica Neue"/>
              </a:defRPr>
            </a:pPr>
            <a:r>
              <a:t>Electral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16678" y="2688336"/>
            <a:ext cx="1025242" cy="51206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16678" y="2688336"/>
            <a:ext cx="102524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F2A33"/>
                </a:solidFill>
                <a:latin typeface="Helvetica Neue"/>
              </a:defRPr>
            </a:pPr>
            <a:r>
              <a:t>Otrivin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97369" y="2688336"/>
            <a:ext cx="927398" cy="51206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7369" y="2688336"/>
            <a:ext cx="92739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F2A33"/>
                </a:solidFill>
                <a:latin typeface="Helvetica Neue"/>
              </a:defRPr>
            </a:pPr>
            <a:r>
              <a:t>Volini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621024"/>
            <a:ext cx="5391759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D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380390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0D6E6E"/>
                </a:solidFill>
                <a:latin typeface="Helvetica Neue"/>
              </a:defRPr>
            </a:pPr>
            <a:r>
              <a:t>HARD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078224"/>
            <a:ext cx="484311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2A33"/>
                </a:solidFill>
                <a:latin typeface="Helvetica Neue"/>
              </a:defRPr>
            </a:pPr>
            <a:r>
              <a:t>no duplicate active ingredients across a suggestion 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3007" y="3621024"/>
            <a:ext cx="5391759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D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7327" y="380390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0D6E6E"/>
                </a:solidFill>
                <a:latin typeface="Helvetica Neue"/>
              </a:defRPr>
            </a:pPr>
            <a:r>
              <a:t>HARD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7" y="4078224"/>
            <a:ext cx="484311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0F2A33"/>
                </a:solidFill>
                <a:latin typeface="Helvetica Neue"/>
              </a:defRPr>
            </a:pPr>
            <a:r>
              <a:t>no dose emitted on prescription-only drugs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773168"/>
            <a:ext cx="11057839" cy="1371600"/>
          </a:xfrm>
          <a:prstGeom prst="roundRect">
            <a:avLst>
              <a:gd name="adj" fmla="val 5000"/>
            </a:avLst>
          </a:prstGeom>
          <a:solidFill>
            <a:srgbClr val="9A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4937760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6E3D2"/>
                </a:solidFill>
                <a:latin typeface="Helvetica Neue"/>
              </a:defRPr>
            </a:pPr>
            <a:r>
              <a:t>ESCALATION  ·  THESE BYPASS PRESCRIBING ENTIRELY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" y="5248656"/>
            <a:ext cx="1627632" cy="402336"/>
          </a:xfrm>
          <a:prstGeom prst="roundRect">
            <a:avLst>
              <a:gd name="adj" fmla="val 35000"/>
            </a:avLst>
          </a:prstGeom>
          <a:solidFill>
            <a:srgbClr val="B37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5248656"/>
            <a:ext cx="16276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Appendicitis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15184" y="5248656"/>
            <a:ext cx="1417320" cy="402336"/>
          </a:xfrm>
          <a:prstGeom prst="roundRect">
            <a:avLst>
              <a:gd name="adj" fmla="val 35000"/>
            </a:avLst>
          </a:prstGeom>
          <a:solidFill>
            <a:srgbClr val="B37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15184" y="5248656"/>
            <a:ext cx="14173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Meningitis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5248656"/>
            <a:ext cx="996696" cy="402336"/>
          </a:xfrm>
          <a:prstGeom prst="roundRect">
            <a:avLst>
              <a:gd name="adj" fmla="val 35000"/>
            </a:avLst>
          </a:prstGeom>
          <a:solidFill>
            <a:srgbClr val="B37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0520" y="5248656"/>
            <a:ext cx="9966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Sepsis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85232" y="5248656"/>
            <a:ext cx="996696" cy="402336"/>
          </a:xfrm>
          <a:prstGeom prst="roundRect">
            <a:avLst>
              <a:gd name="adj" fmla="val 35000"/>
            </a:avLst>
          </a:prstGeom>
          <a:solidFill>
            <a:srgbClr val="B37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85232" y="5248656"/>
            <a:ext cx="9966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Stroke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9944" y="5248656"/>
            <a:ext cx="2258568" cy="402336"/>
          </a:xfrm>
          <a:prstGeom prst="roundRect">
            <a:avLst>
              <a:gd name="adj" fmla="val 35000"/>
            </a:avLst>
          </a:prstGeom>
          <a:solidFill>
            <a:srgbClr val="B37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9944" y="5248656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Suspected fracture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528" y="5248656"/>
            <a:ext cx="1417320" cy="402336"/>
          </a:xfrm>
          <a:prstGeom prst="roundRect">
            <a:avLst>
              <a:gd name="adj" fmla="val 35000"/>
            </a:avLst>
          </a:prstGeom>
          <a:solidFill>
            <a:srgbClr val="B37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528" y="5248656"/>
            <a:ext cx="14173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Concussion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5742432"/>
            <a:ext cx="104726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F9ECE0"/>
                </a:solidFill>
                <a:latin typeface="Helvetica Neue"/>
              </a:defRPr>
            </a:pPr>
            <a:r>
              <a:t>They return urgent-care advice instead of any medication.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RESULTS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Results: Triage Accuracy and System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2045208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426"/>
            <a:ext cx="2045208" cy="69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4000" b="1" i="0">
                <a:solidFill>
                  <a:srgbClr val="0D6E6E"/>
                </a:solidFill>
                <a:latin typeface="Helvetica Neue"/>
              </a:defRPr>
            </a:pPr>
            <a:r>
              <a:t>78.4%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87899"/>
            <a:ext cx="1716024" cy="471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top-3 from 2 symptoms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3304" y="1481328"/>
            <a:ext cx="2045208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304" y="1764426"/>
            <a:ext cx="2045208" cy="69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4000" b="1" i="0">
                <a:solidFill>
                  <a:srgbClr val="0D6E6E"/>
                </a:solidFill>
                <a:latin typeface="Helvetica Neue"/>
              </a:defRPr>
            </a:pPr>
            <a:r>
              <a:t>88.8%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7896" y="2487899"/>
            <a:ext cx="1716024" cy="471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0" i="0">
                <a:solidFill>
                  <a:srgbClr val="33505C"/>
                </a:solidFill>
                <a:latin typeface="Helvetica Neue"/>
              </a:defRPr>
            </a:pPr>
            <a:r>
              <a:t>top-3 from 3 symptoms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9680" y="1481328"/>
            <a:ext cx="2045208" cy="1572768"/>
          </a:xfrm>
          <a:prstGeom prst="roundRect">
            <a:avLst>
              <a:gd name="adj" fmla="val 5000"/>
            </a:avLst>
          </a:prstGeom>
          <a:solidFill>
            <a:srgbClr val="0D6E6E"/>
          </a:solidFill>
          <a:ln w="12700">
            <a:solidFill>
              <a:srgbClr val="0D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9680" y="1764426"/>
            <a:ext cx="2045208" cy="69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4000" b="1" i="0">
                <a:solidFill>
                  <a:srgbClr val="FFFFFF"/>
                </a:solidFill>
                <a:latin typeface="Helvetica Neue"/>
              </a:defRPr>
            </a:pPr>
            <a:r>
              <a:t>90.4%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4272" y="2487899"/>
            <a:ext cx="1716024" cy="471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0" i="0">
                <a:solidFill>
                  <a:srgbClr val="DDEAEA"/>
                </a:solidFill>
                <a:latin typeface="Helvetica Neue"/>
              </a:defRPr>
            </a:pPr>
            <a:r>
              <a:t>top-3 from 4 symptoms</a:t>
            </a:r>
          </a:p>
        </p:txBody>
      </p:sp>
      <p:pic>
        <p:nvPicPr>
          <p:cNvPr id="17" name="Picture 16" descr="fig_triage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6" y="2431389"/>
            <a:ext cx="4227271" cy="281818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66928" y="3419856"/>
            <a:ext cx="653796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419856"/>
            <a:ext cx="50292" cy="859536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419856"/>
            <a:ext cx="5952744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Five risk models validated on held-out 20% splits, AUC 0.7821 to 1.0000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379976"/>
            <a:ext cx="653796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379976"/>
            <a:ext cx="50292" cy="859536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4379976"/>
            <a:ext cx="5952744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5,186 lines of code covered by 71 regression tests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40096"/>
            <a:ext cx="653796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340096"/>
            <a:ext cx="50292" cy="859536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340096"/>
            <a:ext cx="5952744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33505C"/>
                </a:solidFill>
                <a:latin typeface="Helvetica Neue"/>
              </a:defRPr>
            </a:pPr>
            <a:r>
              <a:t>Full pipeline runs offline on an 8 GB Apple Silicon Mac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WHAT THIS SYSTEM CANNOT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Limitations, Stated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5043"/>
            <a:ext cx="5419191" cy="141732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5043"/>
            <a:ext cx="45720" cy="14173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95043"/>
            <a:ext cx="4907127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CKD AUC 1.0000 reflects near-linear separability of that dataset, not clinical perfection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1495043"/>
            <a:ext cx="5419191" cy="141732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5575" y="1495043"/>
            <a:ext cx="45720" cy="14173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495043"/>
            <a:ext cx="4907127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ILPD at 0.7821 is genuinely hard; reported unmassaged rather than tuned upward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31820"/>
            <a:ext cx="5419191" cy="141732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131820"/>
            <a:ext cx="45720" cy="14173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31820"/>
            <a:ext cx="4907127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Cleveland (303), CKD (400), ILPD (583), WDBC (569) are small datasets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3131820"/>
            <a:ext cx="5419191" cy="141732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3131820"/>
            <a:ext cx="45720" cy="14173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3131820"/>
            <a:ext cx="4907127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Triage coverage is bounded at 244 conditions and 389 symptoms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68596"/>
            <a:ext cx="5419191" cy="141732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768596"/>
            <a:ext cx="45720" cy="14173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68596"/>
            <a:ext cx="4907127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Top-3 accuracy from 2 symptoms is 78.4%; sparse input degrades ranking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5575" y="4768596"/>
            <a:ext cx="5419191" cy="141732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5575" y="4768596"/>
            <a:ext cx="45720" cy="14173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1607" y="4768596"/>
            <a:ext cx="4907127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System is stateless: no longitudinal history, no follow-up tracking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6E6E"/>
                </a:solidFill>
                <a:latin typeface="Helvetica Neue"/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2A33"/>
                </a:solidFill>
                <a:latin typeface="Helvetica Neue"/>
              </a:defRPr>
            </a:pPr>
            <a: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47672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47672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50008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47672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Extend triage coverage beyond 244 conditions and 389 symptoms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5575" y="1947672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5575" y="1947672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2350008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1947672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Validate risk models on Indian cohort data rather than UCI splits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82696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282696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85032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82696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Improve chronic liver disease performance above the 0.7821 baseline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5575" y="3282696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5575" y="3282696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3685032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282696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Add multilingual input for Indian languages at the extraction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17720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617720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20056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17720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Evaluate newer small local models against the same task-specific benchmark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5575" y="4617720"/>
            <a:ext cx="5419191" cy="1115568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 w="12700">
            <a:solidFill>
              <a:srgbClr val="D5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5575" y="4617720"/>
            <a:ext cx="45720" cy="111556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1607" y="5020056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4A0A0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247" y="4617720"/>
            <a:ext cx="4358487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3505C"/>
                </a:solidFill>
                <a:latin typeface="Helvetica Neue"/>
              </a:defRPr>
            </a:pPr>
            <a:r>
              <a:t>Clinical usability study with primary-care practitioners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14A0A0"/>
                </a:solidFill>
                <a:latin typeface="Helvetica Neue"/>
              </a:defRPr>
            </a:pPr>
            <a:r>
              <a:t>WRAPPING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FFFFFF"/>
                </a:solidFill>
                <a:latin typeface="Helvetica Neue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234440" cy="41148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6B848E"/>
                </a:solidFill>
                <a:latin typeface="Helvetica Neue"/>
              </a:defRPr>
            </a:pPr>
            <a:r>
              <a:t>IHACDP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550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6B848E"/>
                </a:solidFill>
                <a:latin typeface="Helvetica Neue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8092440" cy="749808"/>
          </a:xfrm>
          <a:prstGeom prst="roundRect">
            <a:avLst>
              <a:gd name="adj" fmla="val 6000"/>
            </a:avLst>
          </a:prstGeom>
          <a:solidFill>
            <a:srgbClr val="122731"/>
          </a:solidFill>
          <a:ln w="12700">
            <a:solidFill>
              <a:srgbClr val="1F3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45720" cy="749808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481328"/>
            <a:ext cx="75255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600" b="0" i="0">
                <a:solidFill>
                  <a:srgbClr val="DDEAEA"/>
                </a:solidFill>
                <a:latin typeface="Helvetica Neue"/>
              </a:defRPr>
            </a:pPr>
            <a:r>
              <a:t>Statistical models decide; the language model only narrates the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350008"/>
            <a:ext cx="8092440" cy="749808"/>
          </a:xfrm>
          <a:prstGeom prst="roundRect">
            <a:avLst>
              <a:gd name="adj" fmla="val 6000"/>
            </a:avLst>
          </a:prstGeom>
          <a:solidFill>
            <a:srgbClr val="122731"/>
          </a:solidFill>
          <a:ln w="12700">
            <a:solidFill>
              <a:srgbClr val="1F3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350008"/>
            <a:ext cx="45720" cy="749808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350008"/>
            <a:ext cx="75255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600" b="0" i="0">
                <a:solidFill>
                  <a:srgbClr val="DDEAEA"/>
                </a:solidFill>
                <a:latin typeface="Helvetica Neue"/>
              </a:defRPr>
            </a:pPr>
            <a:r>
              <a:t>Observed/imputed wall keeps explanations grounded in patient-given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18688"/>
            <a:ext cx="8092440" cy="749808"/>
          </a:xfrm>
          <a:prstGeom prst="roundRect">
            <a:avLst>
              <a:gd name="adj" fmla="val 6000"/>
            </a:avLst>
          </a:prstGeom>
          <a:solidFill>
            <a:srgbClr val="122731"/>
          </a:solidFill>
          <a:ln w="12700">
            <a:solidFill>
              <a:srgbClr val="1F3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18688"/>
            <a:ext cx="45720" cy="749808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218688"/>
            <a:ext cx="75255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600" b="0" i="0">
                <a:solidFill>
                  <a:srgbClr val="DDEAEA"/>
                </a:solidFill>
                <a:latin typeface="Helvetica Neue"/>
              </a:defRPr>
            </a:pPr>
            <a:r>
              <a:t>Five risk models, AUC 0.7821 to 1.0000, selected by cross-validated ROC-AUC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87368"/>
            <a:ext cx="8092440" cy="749808"/>
          </a:xfrm>
          <a:prstGeom prst="roundRect">
            <a:avLst>
              <a:gd name="adj" fmla="val 6000"/>
            </a:avLst>
          </a:prstGeom>
          <a:solidFill>
            <a:srgbClr val="122731"/>
          </a:solidFill>
          <a:ln w="12700">
            <a:solidFill>
              <a:srgbClr val="1F3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087368"/>
            <a:ext cx="45720" cy="749808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087368"/>
            <a:ext cx="75255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600" b="0" i="0">
                <a:solidFill>
                  <a:srgbClr val="DDEAEA"/>
                </a:solidFill>
                <a:latin typeface="Helvetica Neue"/>
              </a:defRPr>
            </a:pPr>
            <a:r>
              <a:t>Triage reaches 90.4% top-3 accuracy from four symptoms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56048"/>
            <a:ext cx="8092440" cy="749808"/>
          </a:xfrm>
          <a:prstGeom prst="roundRect">
            <a:avLst>
              <a:gd name="adj" fmla="val 6000"/>
            </a:avLst>
          </a:prstGeom>
          <a:solidFill>
            <a:srgbClr val="122731"/>
          </a:solidFill>
          <a:ln w="12700">
            <a:solidFill>
              <a:srgbClr val="1F3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956048"/>
            <a:ext cx="45720" cy="749808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956048"/>
            <a:ext cx="75255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600" b="0" i="0">
                <a:solidFill>
                  <a:srgbClr val="DDEAEA"/>
                </a:solidFill>
                <a:latin typeface="Helvetica Neue"/>
              </a:defRPr>
            </a:pPr>
            <a:r>
              <a:t>5,186 lines, 71 regression tests, fully offline on 8 GB hardware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1976" y="1481328"/>
            <a:ext cx="2672791" cy="4224528"/>
          </a:xfrm>
          <a:prstGeom prst="roundRect">
            <a:avLst>
              <a:gd name="adj" fmla="val 5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1976" y="2944368"/>
            <a:ext cx="267279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3400" b="1" i="0">
                <a:solidFill>
                  <a:srgbClr val="FFFFFF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3767328"/>
            <a:ext cx="2672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0" i="0">
                <a:solidFill>
                  <a:srgbClr val="DDEAEA"/>
                </a:solidFill>
                <a:latin typeface="Helvetica Neue"/>
              </a:defRPr>
            </a:pPr>
            <a:r>
              <a:t>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