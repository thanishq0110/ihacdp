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12191695" cy="45720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66928" y="384048"/>
            <a:ext cx="2248564" cy="822959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vit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530352"/>
            <a:ext cx="1955956" cy="5303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1600200"/>
            <a:ext cx="1072865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200" b="1">
                <a:solidFill>
                  <a:srgbClr val="FFFFFF"/>
                </a:solidFill>
              </a:defRPr>
            </a:pPr>
            <a:r>
              <a:t>IHACDP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697480"/>
            <a:ext cx="10728655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100">
                <a:solidFill>
                  <a:srgbClr val="9CC4C4"/>
                </a:solidFill>
              </a:defRPr>
            </a:pPr>
            <a:r>
              <a:t>Intelligent Healthcare Analytics and Clinical Decision Support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3886200"/>
            <a:ext cx="1072865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700"/>
              </a:spcAft>
              <a:defRPr sz="1500">
                <a:solidFill>
                  <a:srgbClr val="DDE8E8"/>
                </a:solidFill>
              </a:defRPr>
            </a:pPr>
            <a:r>
              <a:t>Offline clinical decision support with statistical risk models and a local language model</a:t>
            </a:r>
          </a:p>
          <a:p>
            <a:pPr>
              <a:spcAft>
                <a:spcPts val="700"/>
              </a:spcAft>
              <a:defRPr sz="1500">
                <a:solidFill>
                  <a:srgbClr val="DDE8E8"/>
                </a:solidFill>
              </a:defRPr>
            </a:pPr>
            <a:r>
              <a:t>Shiva Charan Ambati — 23BRS1203</a:t>
            </a:r>
          </a:p>
          <a:p>
            <a:pPr>
              <a:spcAft>
                <a:spcPts val="700"/>
              </a:spcAft>
              <a:defRPr sz="1500">
                <a:solidFill>
                  <a:srgbClr val="DDE8E8"/>
                </a:solidFill>
              </a:defRPr>
            </a:pPr>
            <a:r>
              <a:t>Atla Abhinav Karthik Reddy — 23BCE1085</a:t>
            </a:r>
          </a:p>
          <a:p>
            <a:pPr>
              <a:spcAft>
                <a:spcPts val="700"/>
              </a:spcAft>
              <a:defRPr sz="1500">
                <a:solidFill>
                  <a:srgbClr val="DDE8E8"/>
                </a:solidFill>
              </a:defRPr>
            </a:pPr>
            <a:r>
              <a:t>Kotha Rithvik Reddy — 23BCE1582</a:t>
            </a:r>
          </a:p>
          <a:p>
            <a:pPr>
              <a:spcAft>
                <a:spcPts val="700"/>
              </a:spcAft>
              <a:defRPr sz="1500">
                <a:solidFill>
                  <a:srgbClr val="DDE8E8"/>
                </a:solidFill>
              </a:defRPr>
            </a:pPr>
            <a:r>
              <a:t>B.Tech, School of Computer Science and Engineering, VIT Chennai</a:t>
            </a:r>
          </a:p>
          <a:p>
            <a:pPr>
              <a:spcAft>
                <a:spcPts val="700"/>
              </a:spcAft>
              <a:defRPr sz="1500">
                <a:solidFill>
                  <a:srgbClr val="DDE8E8"/>
                </a:solidFill>
              </a:defRPr>
            </a:pPr>
            <a:r>
              <a:t>Guide: Dr. Vivekanandan M (53646)</a:t>
            </a:r>
          </a:p>
          <a:p>
            <a:pPr>
              <a:spcAft>
                <a:spcPts val="700"/>
              </a:spcAft>
              <a:defRPr sz="1500">
                <a:solidFill>
                  <a:srgbClr val="DDE8E8"/>
                </a:solidFill>
              </a:defRPr>
            </a:pPr>
            <a:r>
              <a:t>Capstone Project Review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Problem, motivation, and the Indian primary-care context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Literature review: symptom checkers, ML risk prediction, explainability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Research gap, objectives, and system architecture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Datasets, methodology, and the observed/imputed wall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Risk model selection, language model benchmark, SHAP explainability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Results, limitations, future scope, conclusion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Problem Definition and Domain Understanding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Patients describe symptoms in plain English, not clinical vocabulary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Clinical decision support must map free text to structured risk assessment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Language models are fluent but unreliable as diagnostic engines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Statistical models are reliable but opaque to a layperson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Core problem: combine both without letting the generator decide outcomes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Constraint: must run offline, with no patient data leaving the device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Motivation: the Indian Primary-Care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Primary care is the first and often only point of contact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Consultation time is short; symptom histories are taken rapidly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Connectivity and cloud access are unreliable outside urban centres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Sending health data to remote APIs raises privacy and cost concerns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Self-medication from an OTC counter is common and unguided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An offline, on-device assistant fits this setting directly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Literature Review: Symptom Checkers and Their Limitations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Public symptom checkers rank conditions from a checklist of symptoms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Coverage is skewed to conditions that public datasets happen to carry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Injuries and musculoskeletal complaints are poorly represented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Probabilistic fits misread silence: unmentioned symptoms treated as absent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Naive Bayes on our data ranked a head cold as AIDS at 46%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Outputs rarely separate what the patient said from what was assumed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Literature Review: ML Risk Prediction and Explainability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Supervised models on UCI clinical datasets are a well-established baseline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LogisticRegression, RandomForest and XGBoost dominate tabular clinical risk work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ROC-AUC under cross-validation is the standard selection criterion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SHAP attributes a prediction to individual feature contributions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Explainability literature rarely addresses who the explanation is written for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Gap between a SHAP plot and a sentence a patient understands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Research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Symptom checkers rank conditions but do not quantify chronic disease risk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Risk models quantify but do not read plain-English complaints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LLM health assistants generate diagnoses without statistical grounding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Imputed feature values silently enter explanations as if observed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No offline system unites triage, risk scoring, SHAP and narration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IHACDP targets exactly that junction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Objectives and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Accept plain-English symptom descriptions and extract entities deterministically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Triage across 244 conditions using an interpretable ranking, not a fitted classifier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Score five chronic disease risks with cross-validated supervised models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Explain every prediction with SHAP over observed features only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Narrate results with a local language model that never diagnoses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Run fully offline on commodity hardware; no cloud, no build step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System Architecture (the Request Path)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Plain-English input enters a FastAPI endpoint; the system is stateless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Deterministic regex entity extraction with range validation parses the text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Features are tagged observed or imputed; only observed ones cross the wall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Triage layer ranks conditions by IDF-weighted symptom overlap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Risk models score; SHAP attributes each prediction to observed features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Ollama serves gemma3:4b over loopback to narrate, not decide</a:t>
            </a:r>
          </a:p>
        </p:txBody>
      </p:sp>
      <p:pic>
        <p:nvPicPr>
          <p:cNvPr id="6" name="Picture 5" descr="fig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754880" cy="3075497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Datasets Used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6126480" cy="3456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1620"/>
                <a:gridCol w="1531620"/>
                <a:gridCol w="1531620"/>
                <a:gridCol w="153162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Source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Dataset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Size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UCI #891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CDC BRFSS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75,346 rows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Type 2 Diabetes risk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UCI #45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Cleveland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303 rows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Coronary Heart Disease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UCI #336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CKD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400 rows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Chronic Kidney Disease risk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UCI #225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ILPD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583 rows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Chronic Liver Disease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UCI #17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WDBC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569 rows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Breast Cancer risk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Public matrix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Symptom matrix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41 conditions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Triage patterns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SymCat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SymCat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174 conditions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Triage patterns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Curated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Clinical patterns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29 patterns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Injuries, musculoskeletal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fig_triage_sour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754880" cy="369824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Methodology: Deterministic Extraction and the Observed/Imputed Wall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Regex entity extraction with range validation; no model parses the input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Every extracted feature carries a tag: observed or imputed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Imputed values fill the model's input vector but never reach the narrator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The language model sees only evidence the patient actually gave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Prevents fabricated explanations built on statistical placeholders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Determinism makes extraction auditable and reproducible across runs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Methodology: Triage Layer and Why IDF Overlap Beat Naive Bayes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244 conditions, 389 symptoms, 516 patterns merged from three sources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Public symptom matrix 41, SymCat 174, plus 29 curated clinical patterns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Curated patterns cover injuries and musculoskeletal complaints no public dataset carries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Ranking uses IDF-weighted symptom overlap, not a fitted classifier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Naive Bayes treats unmentioned symptoms as confirmed absent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That fit once ranked a head cold as AIDS at 46%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Risk Model Selection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612648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1620"/>
                <a:gridCol w="1531620"/>
                <a:gridCol w="1531620"/>
                <a:gridCol w="153162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Condition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Winning model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Type 2 Diabetes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XGBoost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0.8268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0.7490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Coronary Heart Disease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LogisticRegression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0.9502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0.8689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Chronic Kidney Disease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LogisticRegression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1.0000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0.9750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Chronic Liver Disease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RandomForest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0.7821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0.7009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Breast Cancer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LogisticRegression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0.9954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0.9737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fig_algorithm_con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754880" cy="2734056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Language Model Benchmark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612648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25296"/>
                <a:gridCol w="1225296"/>
                <a:gridCol w="1225296"/>
                <a:gridCol w="1225296"/>
                <a:gridCol w="1225296"/>
              </a:tblGrid>
              <a:tr h="384048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Score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Reasoning leak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Dose violations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Latency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gemma3:4b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100/100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0%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4.17s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llama3.2:3b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90.0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2.07s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qwen3:4b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42.5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75%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0">
                          <a:solidFill>
                            <a:srgbClr val="2B4552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fig_llm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754880" cy="200205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Explainability with SHAP (Worked CKD Example)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6126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CKD model is LogisticRegression, AUC 1.0000, accuracy 0.9750 on held-out data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SHAP attributes the risk score to individual input features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Only features tagged observed are eligible to appear in the explanation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Imputed values contribute to the score but are withheld from narration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gemma3:4b converts the surviving attributions into plain-language reasoning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The number comes from the model; the sentence comes from the narrator</a:t>
            </a:r>
          </a:p>
        </p:txBody>
      </p:sp>
      <p:pic>
        <p:nvPicPr>
          <p:cNvPr id="6" name="Picture 5" descr="ui_consult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754880" cy="752856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Deterministic Prescribing and Urgent-Care Escalation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Prescribing is deterministic from a curated Indian OTC formulary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Formulary: Dolo 650, Brufen 400, Sinarest, Strepsils, Cetzine, Digene, Electral, Otrivin, Volini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Hard rule: no duplicate active ingredients across a suggestion set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Hard rule: no dose emitted on prescription-only drugs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Appendicitis, meningitis, sepsis, stroke, suspected fracture, concussion bypass prescribing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Those conditions return urgent-care advice instead of any medication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Results: Triage Accuracy and Graded System Validation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66928" y="1371600"/>
          <a:ext cx="612648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3063240"/>
              </a:tblGrid>
              <a:tr h="384048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Symptoms given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Top-3 triage accuracy</a:t>
                      </a:r>
                    </a:p>
                  </a:txBody>
                  <a:tcPr anchor="ctr">
                    <a:solidFill>
                      <a:srgbClr val="0D6E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2 symptoms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78.4%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3 symptoms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88.8%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4 symptoms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0">
                          <a:solidFill>
                            <a:srgbClr val="2B4552"/>
                          </a:solidFill>
                        </a:defRPr>
                      </a:pPr>
                      <a:r>
                        <a:t>90.4%</a:t>
                      </a:r>
                    </a:p>
                  </a:txBody>
                  <a:tcPr anchor="ctr">
                    <a:solidFill>
                      <a:srgbClr val="F2F8F8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fig_triage_accura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3720" y="1463040"/>
            <a:ext cx="4754880" cy="339634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Limitations, Stated Honestly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CKD AUC 1.0000 reflects near-linear separability of that dataset, not clinical perfection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ILPD at 0.7821 is genuinely hard; reported unmassaged rather than tuned upward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Cleveland (303), CKD (400), ILPD (583), WDBC (569) are small datasets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Triage coverage is bounded at 244 conditions and 389 symptoms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Top-3 accuracy from 2 symptoms is 78.4%; sparse input degrades ranking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System is stateless: no longitudinal history, no follow-up tracking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329184"/>
            <a:ext cx="11057839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B1B24"/>
                </a:solidFill>
              </a:defRPr>
            </a:pPr>
            <a:r>
              <a:t>Future Scope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088136"/>
            <a:ext cx="1371600" cy="41148"/>
          </a:xfrm>
          <a:prstGeom prst="rect">
            <a:avLst/>
          </a:prstGeom>
          <a:solidFill>
            <a:srgbClr val="0D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371600"/>
            <a:ext cx="11057839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Extend triage coverage beyond 244 conditions and 389 symptoms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Validate risk models on Indian cohort data rather than UCI splits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Improve chronic liver disease performance above the 0.7821 baseline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Add multilingual input for Indian languages at the extraction layer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Evaluate newer small local models against the same task-specific benchmark</a:t>
            </a:r>
          </a:p>
          <a:p>
            <a:pPr>
              <a:spcAft>
                <a:spcPts val="900"/>
              </a:spcAft>
              <a:defRPr sz="1800">
                <a:solidFill>
                  <a:srgbClr val="2B4552"/>
                </a:solidFill>
              </a:defRPr>
            </a:pPr>
            <a:r>
              <a:t>•  Clinical usability study with primary-care practitioners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8655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000" b="1">
                <a:solidFill>
                  <a:srgbClr val="FFFFFF"/>
                </a:solidFill>
              </a:defRPr>
            </a:pPr>
            <a:r>
              <a:t>Thank You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728655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>
                <a:solidFill>
                  <a:srgbClr val="9CC4C4"/>
                </a:solidFill>
              </a:defRPr>
            </a:pPr>
            <a:r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